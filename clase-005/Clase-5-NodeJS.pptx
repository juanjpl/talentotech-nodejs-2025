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4630400" cy="8229600"/>
  <p:notesSz cx="8229600" cy="14630400"/>
  <p:embeddedFontLst>
    <p:embeddedFont>
      <p:font typeface="Poppins"/>
      <p:regular r:id="rId33"/>
    </p:embeddedFont>
    <p:embeddedFont>
      <p:font typeface="Poppins"/>
      <p:regular r:id="rId34"/>
    </p:embeddedFont>
    <p:embeddedFont>
      <p:font typeface="Poppins"/>
      <p:regular r:id="rId35"/>
    </p:embeddedFont>
    <p:embeddedFont>
      <p:font typeface="Poppins"/>
      <p:regular r:id="rId36"/>
    </p:embeddedFont>
    <p:embeddedFont>
      <p:font typeface="Roboto"/>
      <p:regular r:id="rId37"/>
    </p:embeddedFont>
    <p:embeddedFont>
      <p:font typeface="Roboto"/>
      <p:regular r:id="rId38"/>
    </p:embeddedFont>
    <p:embeddedFont>
      <p:font typeface="Roboto"/>
      <p:regular r:id="rId39"/>
    </p:embeddedFont>
    <p:embeddedFont>
      <p:font typeface="Roboto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Relationship Id="rId39" Type="http://schemas.openxmlformats.org/officeDocument/2006/relationships/font" Target="fonts/font7.fntdata"/><Relationship Id="rId4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nodejs.org/en/learn/getting-started/an-introduction-to-the-npm-package-manager" TargetMode="External"/><Relationship Id="rId2" Type="http://schemas.openxmlformats.org/officeDocument/2006/relationships/hyperlink" Target="https://docs.npmjs.com/" TargetMode="External"/><Relationship Id="rId3" Type="http://schemas.openxmlformats.org/officeDocument/2006/relationships/hyperlink" Target="https://nodejs.org/docs/latest/api/packages.html" TargetMode="External"/><Relationship Id="rId4" Type="http://schemas.openxmlformats.org/officeDocument/2006/relationships/hyperlink" Target="https://nodejs.org/docs/latest/api/process.html#processargv" TargetMode="External"/><Relationship Id="rId5" Type="http://schemas.openxmlformats.org/officeDocument/2006/relationships/slideLayout" Target="../slideLayouts/slideLayout2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272" y="1807845"/>
            <a:ext cx="4803338" cy="14793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3627358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Node</a:t>
            </a:r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CC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.JS</a:t>
            </a:r>
            <a:endParaRPr lang="en-US" sz="6150" dirty="0"/>
          </a:p>
        </p:txBody>
      </p:sp>
      <p:sp>
        <p:nvSpPr>
          <p:cNvPr id="5" name="Shape 1"/>
          <p:cNvSpPr/>
          <p:nvPr/>
        </p:nvSpPr>
        <p:spPr>
          <a:xfrm>
            <a:off x="6280190" y="5059118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6280190" y="5350193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Clase 5: Módulos y Gestores de Paquetes en Node.js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60588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3" name="Text 1"/>
          <p:cNvSpPr/>
          <p:nvPr/>
        </p:nvSpPr>
        <p:spPr>
          <a:xfrm>
            <a:off x="3077766" y="4072295"/>
            <a:ext cx="84747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¡Les damos la bienvenida! </a:t>
            </a:r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🎥</a:t>
            </a:r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Vamos a comenzar a grabar la clase.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5072"/>
            <a:ext cx="5225534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Índice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1520" y="1646145"/>
            <a:ext cx="13167360" cy="33695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14882"/>
            <a:ext cx="6583680" cy="836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0475" y="3064431"/>
            <a:ext cx="43286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y gestores de paquetes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0475" y="3516273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Gestores de paquetes: 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40475" y="3923824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 - Node Package Manager: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0475" y="4331375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Instalación de paquetes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0475" y="4738926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Creación de scripts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0475" y="5146477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dependencias.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0475" y="5554028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Inicio de un proyecto nuevo con Node Js y NPM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0475" y="5961578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Nativos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0475" y="6369129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de terceros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0475" y="6776680"/>
            <a:ext cx="6165771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Dirname: Gestión de rutas absolutas y acceso a archivos del servidor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14882"/>
            <a:ext cx="6583680" cy="83605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24155" y="3064431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Asincronismo</a:t>
            </a:r>
            <a:endParaRPr lang="en-US" sz="2050" dirty="0"/>
          </a:p>
        </p:txBody>
      </p:sp>
      <p:sp>
        <p:nvSpPr>
          <p:cNvPr id="17" name="Text 13"/>
          <p:cNvSpPr/>
          <p:nvPr/>
        </p:nvSpPr>
        <p:spPr>
          <a:xfrm>
            <a:off x="7524155" y="3516273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del asincronismo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24155" y="3923824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de promesas: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24155" y="4331375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callbacks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24155" y="4738926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then, catch &amp; finally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24155" y="5146477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 &amp; await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24155" y="5554028"/>
            <a:ext cx="616577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Fetch: consumiendo datos externos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524155" y="6013847"/>
            <a:ext cx="6165771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217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407087"/>
            <a:ext cx="6073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Objetivos de la Clase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569408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86048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39029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934182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qué son los gestores de paquetes y cómo utilizarlos en proyectos con Node.js.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7003" y="386048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2074" y="39029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119" y="3934182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 a iniciar y configurar un proyecto con Node.js y NPM, incluyendo la instalación de dependencias y la creación de scripts.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47651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860" y="55190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55021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 los módulos nativos path, fs y process para manejar rutas, archivos y procesos.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57003" y="547651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2074" y="55190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8194119" y="555021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módulos de terceros en un proyecto utilizando NPM.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72965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860" y="67721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1530906" y="680335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Manejar rutas absolutas y relativas con __dirname para acceder a archivos del servidor.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0485" y="3324225"/>
            <a:ext cx="876931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Gestores de paquetes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356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¿Qué son los Gestores de Paquetes?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06744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349781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65260" y="35403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017306" y="3575685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Biblioteca de Módulos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17306" y="4420433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instalación y gestión de bibliotecas de código.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200203" y="349781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85274" y="35403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937319" y="3575685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Gestión de Dependencias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937319" y="4420433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Manejan versiones y resuelven conflictos entre paquetes.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962769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5260" y="60052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7017306" y="604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Automatización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17306" y="65310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Simplifican la integración de código de terceros en proyectos.</a:t>
            </a:r>
            <a:endParaRPr lang="en-US" sz="1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19720"/>
            <a:ext cx="9316760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Gestores de Paquetes Populares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588" y="1661041"/>
            <a:ext cx="900589" cy="900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683" y="2842974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NPM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7956" y="3329821"/>
            <a:ext cx="4163854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 Package Manager o el gestor de paquetes más utilizado para Node.js.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787" y="1661041"/>
            <a:ext cx="900589" cy="900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07881" y="2842974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Homebrew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3154" y="3329821"/>
            <a:ext cx="416397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 en sistemas Mac OS para gestión de programas.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104" y="1661041"/>
            <a:ext cx="900589" cy="9005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53199" y="2842974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Composer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8472" y="3329821"/>
            <a:ext cx="4163854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 en proyectos de PHP para manejar dependencias.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128" y="4500443"/>
            <a:ext cx="900589" cy="9005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85223" y="568237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Pip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3010495" y="6169223"/>
            <a:ext cx="416397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Gestor de paquetes para el lenguaje </a:t>
            </a:r>
            <a:pPr algn="ctr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445" y="4500443"/>
            <a:ext cx="900589" cy="9005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30540" y="568237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Chocolatey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455813" y="6169223"/>
            <a:ext cx="4163973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gestor de paquetes del sistema operativo Microsoft nos permite instalar infinidad de programas desde la terminal sin tener que descargar los ejecutables.</a:t>
            </a:r>
            <a:endParaRPr lang="en-US" sz="1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749" y="3324225"/>
            <a:ext cx="11792783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NPM: Node Package Manager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607" y="3157538"/>
            <a:ext cx="4919186" cy="19144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351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NPM: Node Package Manager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06255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3397329"/>
            <a:ext cx="3664863" cy="2047994"/>
          </a:xfrm>
          <a:prstGeom prst="roundRect">
            <a:avLst>
              <a:gd name="adj" fmla="val 446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631763"/>
            <a:ext cx="29808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Gestión de Paquetes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122182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Instala, actualiza y elimina dependencias de forma sencilla.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97329"/>
            <a:ext cx="3664863" cy="2047994"/>
          </a:xfrm>
          <a:prstGeom prst="roundRect">
            <a:avLst>
              <a:gd name="adj" fmla="val 446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901" y="3631763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Configuración de Proyectos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901" y="4476512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Inicializa proyectos Node.js y crea archivos de configuración.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72138"/>
            <a:ext cx="7556421" cy="1322189"/>
          </a:xfrm>
          <a:prstGeom prst="roundRect">
            <a:avLst>
              <a:gd name="adj" fmla="val 6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5906572"/>
            <a:ext cx="33021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Scripts Personalizados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39699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definir y ejecutar scripts de proyecto desde la terminal.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0179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Iniciando un Proyecto con NPM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72892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35341" y="3163967"/>
            <a:ext cx="30480" cy="4063722"/>
          </a:xfrm>
          <a:prstGeom prst="roundRect">
            <a:avLst>
              <a:gd name="adj" fmla="val 30000"/>
            </a:avLst>
          </a:prstGeom>
          <a:solidFill>
            <a:srgbClr val="73C8BC"/>
          </a:solidFill>
          <a:ln/>
        </p:spPr>
      </p:sp>
      <p:sp>
        <p:nvSpPr>
          <p:cNvPr id="6" name="Shape 3"/>
          <p:cNvSpPr/>
          <p:nvPr/>
        </p:nvSpPr>
        <p:spPr>
          <a:xfrm>
            <a:off x="6760012" y="3403878"/>
            <a:ext cx="680442" cy="30480"/>
          </a:xfrm>
          <a:prstGeom prst="roundRect">
            <a:avLst>
              <a:gd name="adj" fmla="val 30000"/>
            </a:avLst>
          </a:prstGeom>
          <a:solidFill>
            <a:srgbClr val="73C8BC"/>
          </a:solidFill>
          <a:ln/>
        </p:spPr>
      </p:sp>
      <p:sp>
        <p:nvSpPr>
          <p:cNvPr id="7" name="Shape 4"/>
          <p:cNvSpPr/>
          <p:nvPr/>
        </p:nvSpPr>
        <p:spPr>
          <a:xfrm>
            <a:off x="6280190" y="316396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5260" y="32064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669411" y="3241834"/>
            <a:ext cx="29598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Verificar Instalación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69411" y="3732252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Comprueba la instalación de Node.js y NPM con 'node -v' y 'npm -v'.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760012" y="5151596"/>
            <a:ext cx="680442" cy="30480"/>
          </a:xfrm>
          <a:prstGeom prst="roundRect">
            <a:avLst>
              <a:gd name="adj" fmla="val 30000"/>
            </a:avLst>
          </a:prstGeom>
          <a:solidFill>
            <a:srgbClr val="73C8BC"/>
          </a:solidFill>
          <a:ln/>
        </p:spPr>
      </p:sp>
      <p:sp>
        <p:nvSpPr>
          <p:cNvPr id="12" name="Shape 9"/>
          <p:cNvSpPr/>
          <p:nvPr/>
        </p:nvSpPr>
        <p:spPr>
          <a:xfrm>
            <a:off x="6280190" y="4911685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49541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669411" y="4989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Crear Directorio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9411" y="5479971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una nueva carpeta para tu proyecto.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760012" y="6536412"/>
            <a:ext cx="680442" cy="30480"/>
          </a:xfrm>
          <a:prstGeom prst="roundRect">
            <a:avLst>
              <a:gd name="adj" fmla="val 30000"/>
            </a:avLst>
          </a:prstGeom>
          <a:solidFill>
            <a:srgbClr val="73C8B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0190" y="629650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5260" y="63390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7669411" y="6374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Inicializar Proyecto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69411" y="686478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 'npm init' o 'npm init -y' para configuración rápida.</a:t>
            </a:r>
            <a:endParaRPr lang="en-US" sz="17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D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3227903"/>
            <a:ext cx="11120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Package.json: El Corazón del Proyecto 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4390225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908113"/>
            <a:ext cx="34506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Metadatos del Proyecto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48925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Contiene nombre, versión, descripción y autor del proyecto.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4908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Dependencias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548925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 las dependencias de producción y desarrollo del proyecto.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4908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Scripts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548925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comandos personalizados para ejecutar tareas del proyecto.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ECFF00"/>
          </a:solidFill>
          <a:ln/>
        </p:spPr>
      </p:sp>
      <p:sp>
        <p:nvSpPr>
          <p:cNvPr id="3" name="Text 1"/>
          <p:cNvSpPr/>
          <p:nvPr/>
        </p:nvSpPr>
        <p:spPr>
          <a:xfrm>
            <a:off x="2256830" y="2280404"/>
            <a:ext cx="98495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Instalación y Gestión de Paquetes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2256830" y="3442725"/>
            <a:ext cx="1157978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830" y="3733800"/>
            <a:ext cx="385988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3644" y="4981218"/>
            <a:ext cx="340625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[paquete]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agregar dependencias.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717" y="3733800"/>
            <a:ext cx="385988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3531" y="4981218"/>
            <a:ext cx="340625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update [paquete]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obtener la última versión.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604" y="3733800"/>
            <a:ext cx="3860006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3418" y="4981218"/>
            <a:ext cx="3406378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 paquetes con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uninstall [paquete]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13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Creación de Scripts Personalizados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29044"/>
            <a:ext cx="170021" cy="1216223"/>
          </a:xfrm>
          <a:prstGeom prst="roundRect">
            <a:avLst>
              <a:gd name="adj" fmla="val 5378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28290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Definir Scripts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319463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Agrega scripts personalizados en la sección "scripts" del package.json.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272082"/>
            <a:ext cx="170021" cy="1216223"/>
          </a:xfrm>
          <a:prstGeom prst="roundRect">
            <a:avLst>
              <a:gd name="adj" fmla="val 5378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42720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Ejecutar Scripts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76250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'npm run [nombre-del-script]' para ejecutar tus scripts personalizados.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715119"/>
            <a:ext cx="170021" cy="1216223"/>
          </a:xfrm>
          <a:prstGeom prst="roundRect">
            <a:avLst>
              <a:gd name="adj" fmla="val 5378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5715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Automatización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6205538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scripts para tareas repetitivas como iniciar el servidor o compilar código.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015139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560365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8514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1571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en Node.js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319496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695581"/>
            <a:ext cx="39758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¿Qué son los módulos?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46103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módulos son bloques de código reutilizables y organizados que encapsulan la funcionalidad de una aplicación. Permiten dividir el código en partes más pequeñas y manejables, lo que facilita el mantenimiento, la reutilización y la colaboración en proyectos.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804892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224" y="6039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Internos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8224" y="652974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Archivos de tu proyecto que exportan código.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5804892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1396" y="6039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Nativos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1396" y="652974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Incluidos en Node.js, como 'fs' y 'http'.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5804892"/>
            <a:ext cx="4196358" cy="1685092"/>
          </a:xfrm>
          <a:prstGeom prst="roundRect">
            <a:avLst>
              <a:gd name="adj" fmla="val 543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4568" y="6039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Módulos Externos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4568" y="652974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Paquetes de terceros instalados via NPM.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1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CommonJS vs ES Modules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82455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80190" y="347352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Actualmente, en JavaScript existen dos estándares principales para importar y exportar código, cada uno con características y casos de uso particulares: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44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CommonJS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5625346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 'require()' y 'module.exports'. Es síncrono y compatible con Node.js.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5044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 Modules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42721" y="5625346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'import' y 'export'. Es asíncrono y estándar en JavaScript moderno.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015139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Dirname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560365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8514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235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__dirname y Rutas Absolutas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4624"/>
            <a:ext cx="75564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68569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__dirname proporciona la ruta absoluta del directorio actual.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303752"/>
            <a:ext cx="3664863" cy="2402324"/>
          </a:xfrm>
          <a:prstGeom prst="roundRect">
            <a:avLst>
              <a:gd name="adj" fmla="val 38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538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Uso en CommonJS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02860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Disponible globalmente en módulos CommonJS.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4303752"/>
            <a:ext cx="3664863" cy="2402324"/>
          </a:xfrm>
          <a:prstGeom prst="roundRect">
            <a:avLst>
              <a:gd name="adj" fmla="val 38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901" y="4538186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Alternativa en ES Modules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901" y="538293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'import.meta.url' con 'url.fileURLToPath()' para obtener la ruta.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7FF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46471"/>
            <a:ext cx="9559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Trabajando con Rutas en Node.js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408793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69986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374237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777734"/>
            <a:ext cx="2957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Obtener Ruta Actual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268153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__dirname o import.meta.url según el sistema de módulos.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084683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8860" y="51271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530906" y="516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Combinar Rutas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30906" y="565296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 path.join() del módulo path para crear rutas absolutas confiables.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469499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860" y="65120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530906" y="6547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Acceder a Archivos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0906" y="703778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 fs.readFile() con la ruta absoluta para leer archivos.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2569488"/>
            <a:ext cx="3090624" cy="309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337786"/>
            <a:ext cx="93852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Process y Argumentos de Línea de Comandos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451390" y="3208887"/>
            <a:ext cx="93852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451390" y="3499961"/>
            <a:ext cx="93852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módulo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uno de los módulos nativos más importantes de Node.js, ya que permite interactuar con el proceso en ejecución. Una de sus propiedades clave 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process.argv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un array que contiene los argumentos pasados al script desde la línea de comandos.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451390" y="5206722"/>
            <a:ext cx="4579263" cy="1685092"/>
          </a:xfrm>
          <a:prstGeom prst="roundRect">
            <a:avLst>
              <a:gd name="adj" fmla="val 543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85824" y="544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Estructura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685824" y="5931575"/>
            <a:ext cx="41103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Incluye ruta de Node.js, ruta del script y argumentos adicionales.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257467" y="5206722"/>
            <a:ext cx="4579263" cy="1685092"/>
          </a:xfrm>
          <a:prstGeom prst="roundRect">
            <a:avLst>
              <a:gd name="adj" fmla="val 543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91901" y="544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Uso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91901" y="5931575"/>
            <a:ext cx="41103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crear scripts interactivos que responden a diferentes argumentos.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28976"/>
          </a:xfrm>
          <a:prstGeom prst="rect">
            <a:avLst/>
          </a:prstGeom>
          <a:solidFill>
            <a:srgbClr val="F8FF12"/>
          </a:solidFill>
          <a:ln/>
        </p:spPr>
      </p:sp>
      <p:sp>
        <p:nvSpPr>
          <p:cNvPr id="3" name="Text 1"/>
          <p:cNvSpPr/>
          <p:nvPr/>
        </p:nvSpPr>
        <p:spPr>
          <a:xfrm>
            <a:off x="744260" y="2082403"/>
            <a:ext cx="73761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Próximos Pasos y Recursos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744260" y="3065859"/>
            <a:ext cx="4238863" cy="2013823"/>
          </a:xfrm>
          <a:prstGeom prst="roundRect">
            <a:avLst>
              <a:gd name="adj" fmla="val 454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525" y="3286125"/>
            <a:ext cx="37983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de Promesas</a:t>
            </a:r>
            <a:pPr algn="l" indent="0" marL="0">
              <a:lnSpc>
                <a:spcPts val="33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64525" y="3838932"/>
            <a:ext cx="3798332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Exploraremos cómo manejar procesos asíncronos utilizando promesas y async/await en JavaScript.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195768" y="3065859"/>
            <a:ext cx="4238863" cy="2013823"/>
          </a:xfrm>
          <a:prstGeom prst="roundRect">
            <a:avLst>
              <a:gd name="adj" fmla="val 454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6034" y="3286125"/>
            <a:ext cx="37983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Servidores Web</a:t>
            </a:r>
            <a:pPr algn="l" indent="0" marL="0">
              <a:lnSpc>
                <a:spcPts val="33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416034" y="3838932"/>
            <a:ext cx="3798332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Aprenderemos sobre la comunicación web y cómo funcionan los servidores que dan vida a internet.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647277" y="3065859"/>
            <a:ext cx="4238863" cy="2013823"/>
          </a:xfrm>
          <a:prstGeom prst="roundRect">
            <a:avLst>
              <a:gd name="adj" fmla="val 454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7543" y="3286125"/>
            <a:ext cx="37983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Patrones de Arquitectura</a:t>
            </a:r>
            <a:pPr algn="l" indent="0" marL="0">
              <a:lnSpc>
                <a:spcPts val="33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867543" y="3838932"/>
            <a:ext cx="379833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Conoceremos sobre los cimientos de los proyectos de programación.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260" y="5292328"/>
            <a:ext cx="13141881" cy="2183725"/>
          </a:xfrm>
          <a:prstGeom prst="roundRect">
            <a:avLst>
              <a:gd name="adj" fmla="val 41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525" y="5512594"/>
            <a:ext cx="12701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u="sng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Introducción a NPM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Documentación oficial de Node.js para conocer más sobre el gestor de paquetes de Node.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4525" y="5980271"/>
            <a:ext cx="12701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u="sng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 Documentation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Guía oficial sobre cómo trabajar con NPM y gestionar dependencias.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4525" y="6447949"/>
            <a:ext cx="12701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u="sng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Módulos en Node JS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Documentación oficial sobre el manejo de módulos.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4525" y="6915626"/>
            <a:ext cx="12701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u="sng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Módulo process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Leyendo argumentos desde la línea de comandos.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5725" y="3320415"/>
            <a:ext cx="8738949" cy="9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Ejercicios Prácticos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180862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661273" y="1705213"/>
            <a:ext cx="4723686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💭</a:t>
            </a:r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Storytelling</a:t>
            </a:r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💭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273" y="2578894"/>
            <a:ext cx="13307854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y Sabrina te observan mientras revisas tus últimos desafíos resueltos. “Es momento de subir el nivel”, dice Matías, mientras Sabrina asiente.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73" y="3759756"/>
            <a:ext cx="1481852" cy="26702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273" y="6642497"/>
            <a:ext cx="2017276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147179" y="4778454"/>
            <a:ext cx="10829449" cy="1105019"/>
          </a:xfrm>
          <a:prstGeom prst="roundRect">
            <a:avLst>
              <a:gd name="adj" fmla="val 827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012" y="5062537"/>
            <a:ext cx="236101" cy="1888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0946" y="5014436"/>
            <a:ext cx="10026848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“Queremos que configures un entorno de proyecto más profesional, algo que será clave si llegas a trabajar con nosotros en un futuro. Aquí tienes el siguiente reto”.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1273" y="7327344"/>
            <a:ext cx="13307854" cy="377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14212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35925" y="2102644"/>
            <a:ext cx="5282922" cy="66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735925" y="3108785"/>
            <a:ext cx="9740622" cy="33814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7089" y="2081570"/>
            <a:ext cx="2904887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5925" y="3615452"/>
            <a:ext cx="13158549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Misión 1: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5925" y="4188262"/>
            <a:ext cx="13158549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un nuevo proyecto en Node Js mediante el comando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 init -y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configura un nuevo script dentro del archivo </a:t>
            </a:r>
            <a:pPr algn="l" indent="0" marL="0">
              <a:lnSpc>
                <a:spcPts val="2600"/>
              </a:lnSpc>
              <a:buNone/>
            </a:pPr>
            <a:r>
              <a:rPr lang="en-US" sz="1650" b="1" i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package.json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mediante la instrucción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 run start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ejecute el código de nuestro archivo script.js de forma automática.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5925" y="5097423"/>
            <a:ext cx="13158549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Asegúrate de que el entorno esté listo y funcionando correctamente. Este paso marcará el inicio de proyectos más complejos. Con el proyecto configurado, Matías lanza el siguiente desafío.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25" y="6243042"/>
            <a:ext cx="1168122" cy="11769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30962" y="6195774"/>
            <a:ext cx="10971014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“El siguiente paso evalúa tu capacidad para manejar interacciones dinámicas en Node.js”, dice mientras sonríe. “Queremos que implementes un sistema simple para procesar comandos desde la terminal”.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99686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27829" y="2241233"/>
            <a:ext cx="5225534" cy="65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727829" y="3236435"/>
            <a:ext cx="9754195" cy="33576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6851" y="2220397"/>
            <a:ext cx="291322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7829" y="3737610"/>
            <a:ext cx="1317474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Misión 2: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829" y="4376976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el comando es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imprime por consola el mensaje: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7829" y="4896803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 un dato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7829" y="5416629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Si el comando es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{data}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imprime por consola el mensaje: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7829" y="5936456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Recibimos {data} satisfactoriamente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7829" y="6456283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 Si el comando es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PUT {id}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imprime por consola el mensaje: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7829" y="6976110"/>
            <a:ext cx="688097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Modificamos el item con id: {id} satisfactoriamente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3634" y="4491276"/>
            <a:ext cx="5786438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 Si el comando es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 {id}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imprime por consola el mensaje: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3634" y="5343882"/>
            <a:ext cx="578643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item con el id: {id} se eliminó con éxito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3634" y="5863709"/>
            <a:ext cx="5786438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concluye: “Este desafío es clave para ver cómo manejas el flujo de datos y comandos, algo vital en cualquier proyecto backend”.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3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6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2025-06-04T18:30:52Z</dcterms:created>
  <dcterms:modified xsi:type="dcterms:W3CDTF">2025-06-04T18:30:52Z</dcterms:modified>
</cp:coreProperties>
</file>