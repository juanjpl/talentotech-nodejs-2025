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4630400" cy="8229600"/>
  <p:notesSz cx="8229600" cy="14630400"/>
  <p:embeddedFontLst>
    <p:embeddedFont>
      <p:font typeface="Raleway"/>
      <p:regular r:id="rId33"/>
    </p:embeddedFont>
    <p:embeddedFont>
      <p:font typeface="Raleway"/>
      <p:regular r:id="rId34"/>
    </p:embeddedFont>
    <p:embeddedFont>
      <p:font typeface="Raleway"/>
      <p:regular r:id="rId35"/>
    </p:embeddedFont>
    <p:embeddedFont>
      <p:font typeface="Raleway"/>
      <p:regular r:id="rId36"/>
    </p:embeddedFont>
    <p:embeddedFont>
      <p:font typeface="Roboto"/>
      <p:regular r:id="rId37"/>
    </p:embeddedFont>
    <p:embeddedFont>
      <p:font typeface="Roboto"/>
      <p:regular r:id="rId38"/>
    </p:embeddedFont>
    <p:embeddedFont>
      <p:font typeface="Roboto"/>
      <p:regular r:id="rId39"/>
    </p:embeddedFont>
    <p:embeddedFont>
      <p:font typeface="Roboto"/>
      <p:regular r:id="rId4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font" Target="fonts/font1.fntdata"/><Relationship Id="rId34" Type="http://schemas.openxmlformats.org/officeDocument/2006/relationships/font" Target="fonts/font2.fntdata"/><Relationship Id="rId35" Type="http://schemas.openxmlformats.org/officeDocument/2006/relationships/font" Target="fonts/font3.fntdata"/><Relationship Id="rId36" Type="http://schemas.openxmlformats.org/officeDocument/2006/relationships/font" Target="fonts/font4.fntdata"/><Relationship Id="rId37" Type="http://schemas.openxmlformats.org/officeDocument/2006/relationships/font" Target="fonts/font5.fntdata"/><Relationship Id="rId38" Type="http://schemas.openxmlformats.org/officeDocument/2006/relationships/font" Target="fonts/font6.fntdata"/><Relationship Id="rId39" Type="http://schemas.openxmlformats.org/officeDocument/2006/relationships/font" Target="fonts/font7.fntdata"/><Relationship Id="rId40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EC99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EC99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EC99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EC99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EC99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EC99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8DE2D6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EC99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6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9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nodejs.org/en/learn/asynchronous-work/event-loop-timers-and-nexttick" TargetMode="External"/><Relationship Id="rId3" Type="http://schemas.openxmlformats.org/officeDocument/2006/relationships/hyperlink" Target="https://developer.mozilla.org/en-US/docs/Web/API/Fetch_API" TargetMode="External"/><Relationship Id="rId4" Type="http://schemas.openxmlformats.org/officeDocument/2006/relationships/hyperlink" Target="https://github.com/axios/axios" TargetMode="External"/><Relationship Id="rId1" Type="http://schemas.openxmlformats.org/officeDocument/2006/relationships/image" Target="../media/image-21-1.png"/><Relationship Id="rId5" Type="http://schemas.openxmlformats.org/officeDocument/2006/relationships/slideLayout" Target="../slideLayouts/slideLayout22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24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hyperlink" Target="https://rickandmortyapi.com/documentation" TargetMode="External"/><Relationship Id="rId2" Type="http://schemas.openxmlformats.org/officeDocument/2006/relationships/image" Target="../media/image-24-1.png"/><Relationship Id="rId3" Type="http://schemas.openxmlformats.org/officeDocument/2006/relationships/slideLayout" Target="../slideLayouts/slideLayout25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6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27.xml"/><Relationship Id="rId4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88" y="1655088"/>
            <a:ext cx="4919424" cy="49194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028944"/>
            <a:ext cx="196060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1814" y="2080022"/>
            <a:ext cx="5042297" cy="155293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0190" y="4228267"/>
            <a:ext cx="7556421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Node</a:t>
            </a:r>
            <a:pPr algn="l"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FFCC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.JS</a:t>
            </a:r>
            <a:endParaRPr lang="en-US" sz="6150" dirty="0"/>
          </a:p>
        </p:txBody>
      </p:sp>
      <p:sp>
        <p:nvSpPr>
          <p:cNvPr id="6" name="Shape 2"/>
          <p:cNvSpPr/>
          <p:nvPr/>
        </p:nvSpPr>
        <p:spPr>
          <a:xfrm>
            <a:off x="6280190" y="5660026"/>
            <a:ext cx="7556421" cy="35957"/>
          </a:xfrm>
          <a:prstGeom prst="rect">
            <a:avLst/>
          </a:prstGeom>
          <a:solidFill>
            <a:srgbClr val="3C3939">
              <a:alpha val="5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6280190" y="5951101"/>
            <a:ext cx="75564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Clase 6: Asincronismo en JavaScript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417558"/>
          </a:xfrm>
          <a:prstGeom prst="rect">
            <a:avLst/>
          </a:prstGeom>
          <a:solidFill>
            <a:srgbClr val="FFE000"/>
          </a:solidFill>
          <a:ln/>
        </p:spPr>
      </p:sp>
      <p:sp>
        <p:nvSpPr>
          <p:cNvPr id="3" name="Text 1"/>
          <p:cNvSpPr/>
          <p:nvPr/>
        </p:nvSpPr>
        <p:spPr>
          <a:xfrm>
            <a:off x="3368040" y="4068485"/>
            <a:ext cx="7894201" cy="716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¡Les damos la bienvenida! </a:t>
            </a:r>
            <a:pPr algn="ctr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🚀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3790" y="5125045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🎥</a:t>
            </a:r>
            <a:pPr algn="ctr"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Vamos a comenzar a grabar la clase.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6280" y="562689"/>
            <a:ext cx="5116354" cy="639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Índice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16280" y="1713634"/>
            <a:ext cx="13197840" cy="33099"/>
          </a:xfrm>
          <a:prstGeom prst="rect">
            <a:avLst/>
          </a:prstGeom>
          <a:solidFill>
            <a:srgbClr val="3C3939">
              <a:alpha val="5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280" y="1976795"/>
            <a:ext cx="6598920" cy="81855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20829" y="3102293"/>
            <a:ext cx="2558177" cy="319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Asincronismo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20829" y="3544848"/>
            <a:ext cx="6189821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Fundamentos del asincronismo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20829" y="3943826"/>
            <a:ext cx="6189821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Manejo de promesas: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20829" y="4342805"/>
            <a:ext cx="6189821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callbacks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20829" y="4741783"/>
            <a:ext cx="6189821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then, catch &amp; finally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20829" y="5140762"/>
            <a:ext cx="6189821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async &amp; await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20829" y="5539740"/>
            <a:ext cx="6189821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Fetch: consumiendo datos externos</a:t>
            </a:r>
            <a:endParaRPr lang="en-US" sz="16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976795"/>
            <a:ext cx="6598920" cy="81855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19749" y="3102293"/>
            <a:ext cx="2558177" cy="319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Servidores Web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7519749" y="3544848"/>
            <a:ext cx="6189821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¿Cómo funciona Internet?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519749" y="3943826"/>
            <a:ext cx="6189821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Protocolo TCP/IP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7519749" y="4342805"/>
            <a:ext cx="6189821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Modelo Cliente/Servidor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7519749" y="4741783"/>
            <a:ext cx="6189821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Protocolo de comunicación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7519749" y="5140762"/>
            <a:ext cx="6189821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HTTP en profundidad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7519749" y="5539740"/>
            <a:ext cx="6189821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Métodos HTTP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7519749" y="5938718"/>
            <a:ext cx="6189821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Headers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7519749" y="6337697"/>
            <a:ext cx="6189821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Body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7519749" y="6736675"/>
            <a:ext cx="6189821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Códigos de estado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7519749" y="7135654"/>
            <a:ext cx="6189821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URI: URL + URN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417558"/>
          </a:xfrm>
          <a:prstGeom prst="rect">
            <a:avLst/>
          </a:prstGeom>
          <a:solidFill>
            <a:srgbClr val="F9FF05"/>
          </a:solidFill>
          <a:ln/>
        </p:spPr>
      </p:sp>
      <p:sp>
        <p:nvSpPr>
          <p:cNvPr id="3" name="Text 1"/>
          <p:cNvSpPr/>
          <p:nvPr/>
        </p:nvSpPr>
        <p:spPr>
          <a:xfrm>
            <a:off x="793790" y="258853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Objetivos de la Clase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790" y="3750859"/>
            <a:ext cx="13042821" cy="35957"/>
          </a:xfrm>
          <a:prstGeom prst="rect">
            <a:avLst/>
          </a:prstGeom>
          <a:solidFill>
            <a:srgbClr val="3C3939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404193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8DE2D6"/>
          </a:solidFill>
          <a:ln w="7620">
            <a:solidFill>
              <a:srgbClr val="73C8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8860" y="408443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1530906" y="4115633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Comprender qué es el asincronismo y su importancia en la programación moderna.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57003" y="404193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8DE2D6"/>
          </a:solidFill>
          <a:ln w="7620">
            <a:solidFill>
              <a:srgbClr val="73C8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42074" y="408443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8194119" y="4115633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Utilizar promesas con los métodos then, catch y finally para manejar tareas asíncronas.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529506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8DE2D6"/>
          </a:solidFill>
          <a:ln w="7620">
            <a:solidFill>
              <a:srgbClr val="73C8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8860" y="533757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650" dirty="0"/>
          </a:p>
        </p:txBody>
      </p:sp>
      <p:sp>
        <p:nvSpPr>
          <p:cNvPr id="13" name="Text 11"/>
          <p:cNvSpPr/>
          <p:nvPr/>
        </p:nvSpPr>
        <p:spPr>
          <a:xfrm>
            <a:off x="1530906" y="5368766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Aplicar async y await para simplificar y estructurar el manejo de promesas.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457003" y="529506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8DE2D6"/>
          </a:solidFill>
          <a:ln w="7620">
            <a:solidFill>
              <a:srgbClr val="73C8B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42074" y="533757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2650" dirty="0"/>
          </a:p>
        </p:txBody>
      </p:sp>
      <p:sp>
        <p:nvSpPr>
          <p:cNvPr id="16" name="Text 14"/>
          <p:cNvSpPr/>
          <p:nvPr/>
        </p:nvSpPr>
        <p:spPr>
          <a:xfrm>
            <a:off x="8194119" y="5368766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Consumir datos externos utilizando la API Fetch con peticiones GET y POST.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93790" y="654819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8DE2D6"/>
          </a:solidFill>
          <a:ln w="7620">
            <a:solidFill>
              <a:srgbClr val="73C8B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8860" y="6590705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2650" dirty="0"/>
          </a:p>
        </p:txBody>
      </p:sp>
      <p:sp>
        <p:nvSpPr>
          <p:cNvPr id="19" name="Text 17"/>
          <p:cNvSpPr/>
          <p:nvPr/>
        </p:nvSpPr>
        <p:spPr>
          <a:xfrm>
            <a:off x="1530906" y="6621899"/>
            <a:ext cx="123057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Manejar errores y procesar respuestas al interactuar con APIs externas.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23417" y="3324225"/>
            <a:ext cx="11383566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Fundamentos del Asincronismo</a:t>
            </a:r>
            <a:endParaRPr lang="en-US" sz="6150" dirty="0"/>
          </a:p>
        </p:txBody>
      </p:sp>
      <p:sp>
        <p:nvSpPr>
          <p:cNvPr id="3" name="Shape 1"/>
          <p:cNvSpPr/>
          <p:nvPr/>
        </p:nvSpPr>
        <p:spPr>
          <a:xfrm>
            <a:off x="793790" y="4869451"/>
            <a:ext cx="13042821" cy="35957"/>
          </a:xfrm>
          <a:prstGeom prst="rect">
            <a:avLst/>
          </a:prstGeom>
          <a:solidFill>
            <a:srgbClr val="3C3939">
              <a:alpha val="50000"/>
            </a:srgbClr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7488" y="1655088"/>
            <a:ext cx="4919424" cy="49194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51923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Fundamentos del Asincronismo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390338"/>
            <a:ext cx="7556421" cy="35957"/>
          </a:xfrm>
          <a:prstGeom prst="rect">
            <a:avLst/>
          </a:prstGeom>
          <a:solidFill>
            <a:srgbClr val="3C3939">
              <a:alpha val="5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793790" y="3681413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 un paradigma que permite ejecutar tareas en segundo plano sin bloquear el programa principal.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4662368"/>
            <a:ext cx="3664863" cy="2047994"/>
          </a:xfrm>
          <a:prstGeom prst="roundRect">
            <a:avLst>
              <a:gd name="adj" fmla="val 4652"/>
            </a:avLst>
          </a:prstGeom>
          <a:solidFill>
            <a:srgbClr val="FCEC99"/>
          </a:solidFill>
          <a:ln w="7620">
            <a:solidFill>
              <a:srgbClr val="E2D27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28224" y="4896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Importancia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28224" y="5387221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Construye aplicaciones más eficientes y rápidas, mejorando la experiencia del usuario.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4685467" y="4662368"/>
            <a:ext cx="3664863" cy="2047994"/>
          </a:xfrm>
          <a:prstGeom prst="roundRect">
            <a:avLst>
              <a:gd name="adj" fmla="val 4652"/>
            </a:avLst>
          </a:prstGeom>
          <a:solidFill>
            <a:srgbClr val="FCEC99"/>
          </a:solidFill>
          <a:ln w="7620">
            <a:solidFill>
              <a:srgbClr val="E2D27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19901" y="4896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JavaScript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919901" y="5387221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Lenguaje basado en eventos que utiliza callbacks, promesas y async/await.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7488" y="1655088"/>
            <a:ext cx="4919424" cy="49194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537692"/>
            <a:ext cx="724709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Single Thread en JavaScript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700014"/>
            <a:ext cx="7556421" cy="35957"/>
          </a:xfrm>
          <a:prstGeom prst="rect">
            <a:avLst/>
          </a:prstGeom>
          <a:solidFill>
            <a:srgbClr val="3C3939">
              <a:alpha val="5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793790" y="299108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8DE2D6"/>
          </a:solidFill>
          <a:ln w="7620">
            <a:solidFill>
              <a:srgbClr val="73C8B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78860" y="303359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1530906" y="30689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Ejecución Secuencial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530906" y="3559373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JavaScript ejecuta tareas en una sola secuencia de comandos.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93790" y="437590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8DE2D6"/>
          </a:solidFill>
          <a:ln w="7620">
            <a:solidFill>
              <a:srgbClr val="73C8B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8860" y="441840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8"/>
          <p:cNvSpPr/>
          <p:nvPr/>
        </p:nvSpPr>
        <p:spPr>
          <a:xfrm>
            <a:off x="1530906" y="44537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Event Loop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530906" y="4944189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Maneja la cola de tareas para ejecutar operaciones asincrónicas.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93790" y="576072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8DE2D6"/>
          </a:solidFill>
          <a:ln w="7620">
            <a:solidFill>
              <a:srgbClr val="73C8B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8860" y="5803225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650" dirty="0"/>
          </a:p>
        </p:txBody>
      </p:sp>
      <p:sp>
        <p:nvSpPr>
          <p:cNvPr id="15" name="Text 12"/>
          <p:cNvSpPr/>
          <p:nvPr/>
        </p:nvSpPr>
        <p:spPr>
          <a:xfrm>
            <a:off x="1530906" y="58385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Call Stack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530906" y="6329005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Estructura que registra las funciones en ejecución.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167360" y="0"/>
            <a:ext cx="1463040" cy="8229600"/>
          </a:xfrm>
          <a:prstGeom prst="rect">
            <a:avLst/>
          </a:prstGeom>
          <a:solidFill>
            <a:srgbClr val="FFED00"/>
          </a:solidFill>
          <a:ln/>
        </p:spPr>
      </p:sp>
      <p:sp>
        <p:nvSpPr>
          <p:cNvPr id="3" name="Text 1"/>
          <p:cNvSpPr/>
          <p:nvPr/>
        </p:nvSpPr>
        <p:spPr>
          <a:xfrm>
            <a:off x="793790" y="2519124"/>
            <a:ext cx="611945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Call Stack y Event Loop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790" y="3681446"/>
            <a:ext cx="11579781" cy="35957"/>
          </a:xfrm>
          <a:prstGeom prst="rect">
            <a:avLst/>
          </a:prstGeom>
          <a:solidFill>
            <a:srgbClr val="3C3939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41993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Call Stack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4780478"/>
            <a:ext cx="5513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Registra las funciones en ejecución. Se agregan al llamarse y se eliminan al completarse.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6868001" y="41993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Event Loop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68001" y="4780478"/>
            <a:ext cx="5513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Maneja eventos y agrega callbacks a la cola. Ejecuta tareas cuando el Call Stack está vacío.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88" y="1655088"/>
            <a:ext cx="4919424" cy="49194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17800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Callback Queue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340326"/>
            <a:ext cx="7556421" cy="35957"/>
          </a:xfrm>
          <a:prstGeom prst="rect">
            <a:avLst/>
          </a:prstGeom>
          <a:solidFill>
            <a:srgbClr val="3C3939">
              <a:alpha val="5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6280190" y="2631400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CEC99"/>
          </a:solidFill>
          <a:ln w="7620">
            <a:solidFill>
              <a:srgbClr val="E2D27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14624" y="28658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Almacenamiento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14624" y="3356253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Guarda funciones callback y resultados de tareas asincrónicas.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4180403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CEC99"/>
          </a:solidFill>
          <a:ln w="7620">
            <a:solidFill>
              <a:srgbClr val="E2D27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14624" y="44148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Ejecución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514624" y="4905256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Event Loop ejecuta las funciones cuando el Call Stack está vacío.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6280190" y="5729407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CEC99"/>
          </a:solidFill>
          <a:ln w="7620">
            <a:solidFill>
              <a:srgbClr val="E2D27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14624" y="59638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Ejemplo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514624" y="6454259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Consultas a APIs externas se manejan en la Callback Queue.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3324225"/>
            <a:ext cx="7825502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Manejo de promesas</a:t>
            </a:r>
            <a:endParaRPr lang="en-US" sz="6150" dirty="0"/>
          </a:p>
        </p:txBody>
      </p:sp>
      <p:sp>
        <p:nvSpPr>
          <p:cNvPr id="3" name="Shape 1"/>
          <p:cNvSpPr/>
          <p:nvPr/>
        </p:nvSpPr>
        <p:spPr>
          <a:xfrm>
            <a:off x="793790" y="4869451"/>
            <a:ext cx="13042821" cy="35957"/>
          </a:xfrm>
          <a:prstGeom prst="rect">
            <a:avLst/>
          </a:prstGeom>
          <a:solidFill>
            <a:srgbClr val="3C3939">
              <a:alpha val="50000"/>
            </a:srgbClr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7488" y="1655088"/>
            <a:ext cx="4919424" cy="49194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25730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Callbacks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30624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 una función que se pasa como argumento a otra función.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3924300"/>
            <a:ext cx="3664863" cy="2047994"/>
          </a:xfrm>
          <a:prstGeom prst="roundRect">
            <a:avLst>
              <a:gd name="adj" fmla="val 4652"/>
            </a:avLst>
          </a:prstGeom>
          <a:solidFill>
            <a:srgbClr val="8DE2D6"/>
          </a:solidFill>
          <a:ln w="7620">
            <a:solidFill>
              <a:srgbClr val="73C8B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28224" y="41587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Ejecución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4649153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ejecuta cuando se completa la tarea asincrónica.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467" y="3924300"/>
            <a:ext cx="3664863" cy="2047994"/>
          </a:xfrm>
          <a:prstGeom prst="roundRect">
            <a:avLst>
              <a:gd name="adj" fmla="val 4652"/>
            </a:avLst>
          </a:prstGeom>
          <a:solidFill>
            <a:srgbClr val="8DE2D6"/>
          </a:solidFill>
          <a:ln w="7620">
            <a:solidFill>
              <a:srgbClr val="73C8B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19901" y="41587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Ejemplo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919901" y="4649153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taskAsync simula una tarea que tarda 3 segundos en completarse.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88" y="1655088"/>
            <a:ext cx="4919424" cy="49194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25051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Objeto Promise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412841"/>
            <a:ext cx="7556421" cy="35957"/>
          </a:xfrm>
          <a:prstGeom prst="rect">
            <a:avLst/>
          </a:prstGeom>
          <a:solidFill>
            <a:srgbClr val="3C3939">
              <a:alpha val="5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280190" y="370391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 un objeto que representa el resultado eventual de una tarea asincrónica.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280190" y="432196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8DE2D6"/>
          </a:solidFill>
          <a:ln w="7620">
            <a:solidFill>
              <a:srgbClr val="73C8B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365260" y="4364474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7017306" y="43998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Estados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017306" y="4890254"/>
            <a:ext cx="28994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Resolved (exitoso) o Rejected (erróneo).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0200203" y="432196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8DE2D6"/>
          </a:solidFill>
          <a:ln w="7620">
            <a:solidFill>
              <a:srgbClr val="73C8B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85274" y="4364474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650" dirty="0"/>
          </a:p>
        </p:txBody>
      </p:sp>
      <p:sp>
        <p:nvSpPr>
          <p:cNvPr id="12" name="Text 9"/>
          <p:cNvSpPr/>
          <p:nvPr/>
        </p:nvSpPr>
        <p:spPr>
          <a:xfrm>
            <a:off x="10937319" y="43998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Métodos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0937319" y="4890254"/>
            <a:ext cx="28994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Utiliza .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then()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.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catch()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y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.finally()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 manejar resultados.</a:t>
            </a:r>
            <a:endParaRPr lang="en-US" sz="1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2943" y="536615"/>
            <a:ext cx="4878705" cy="609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Ejemplo de Promesa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82943" y="1634224"/>
            <a:ext cx="13264515" cy="31909"/>
          </a:xfrm>
          <a:prstGeom prst="rect">
            <a:avLst/>
          </a:prstGeom>
          <a:solidFill>
            <a:srgbClr val="3C3939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2943" y="1885474"/>
            <a:ext cx="13264515" cy="936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Veamos el siguiente ejemplo donde se muestra cómo declarar una promesa: En este ejemplo, la función taskAsync devuelve una promesa que se resuelve después de 3 segundos. La promesa utiliza los métodos resolve y reject que recibe automáticamente por parámetro, para indicar si la tarea se completó exitosamente o falló.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2943" y="3217069"/>
            <a:ext cx="2890361" cy="312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6936" y="3260884"/>
            <a:ext cx="6531650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056936" y="7549396"/>
            <a:ext cx="6531650" cy="312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072217" y="3217069"/>
            <a:ext cx="2890361" cy="312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0560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 este caso colocamos una condición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Math.random() &lt; 5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para simular que la promesa pueda llegar a fallar, ya que de otra forma siempre sería exitosa.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793790" y="2986564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Luego al momento de ejecutar esta función debemos recuperar el resultado pero eso no es posible asignándole la ejecución a una variable, ya que como el programa sigue corriendo, va a leer la línea de código y asignarle a la variable el resultado </a:t>
            </a:r>
            <a:pPr algn="l" indent="0" marL="0">
              <a:lnSpc>
                <a:spcPts val="2850"/>
              </a:lnSpc>
              <a:buNone/>
            </a:pPr>
            <a:r>
              <a:rPr lang="en-US" sz="1750" b="1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“Promise { &lt;pending&gt; }”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dado que la ejecución de ese código asíncrono todavía ha finalizado.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19964" y="4330422"/>
            <a:ext cx="7590473" cy="209752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0832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 por eso que debemos utilizar los métodos anteriormente mencionados, veamos un ejemplo: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793790" y="1730454"/>
            <a:ext cx="243768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2498" y="1781532"/>
            <a:ext cx="7060406" cy="31638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13927" y="1730454"/>
            <a:ext cx="243768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455682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método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then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establece que debe suceder una vez que la promesa se resuelve con éxito, mientras que el método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catch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determina qué sucederá si la promesa falla. En ambos casos se recibe por parámetro el valor resultante al cual podemos colocarle el nombre que deseemos, como por ejemplo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 el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then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y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error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 el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catch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679954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Por último, el método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finally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es opcional y se llama al finalizar los dos anteriores, independientemente de si la promesa se resuelve o se rechaza.</a:t>
            </a:r>
            <a:endParaRPr lang="en-US" sz="1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88" y="1655088"/>
            <a:ext cx="4919424" cy="49194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7105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Async/Await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933376"/>
            <a:ext cx="7556421" cy="35957"/>
          </a:xfrm>
          <a:prstGeom prst="rect">
            <a:avLst/>
          </a:prstGeom>
          <a:solidFill>
            <a:srgbClr val="3C3939">
              <a:alpha val="5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6280190" y="3224451"/>
            <a:ext cx="3664863" cy="1685092"/>
          </a:xfrm>
          <a:prstGeom prst="roundRect">
            <a:avLst>
              <a:gd name="adj" fmla="val 5654"/>
            </a:avLst>
          </a:prstGeom>
          <a:solidFill>
            <a:srgbClr val="FCEC99"/>
          </a:solidFill>
          <a:ln w="7620">
            <a:solidFill>
              <a:srgbClr val="E2D27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14624" y="34588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Async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14624" y="3949303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Palabra clave para definir una función asincrónica.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171867" y="3224451"/>
            <a:ext cx="3664863" cy="1685092"/>
          </a:xfrm>
          <a:prstGeom prst="roundRect">
            <a:avLst>
              <a:gd name="adj" fmla="val 5654"/>
            </a:avLst>
          </a:prstGeom>
          <a:solidFill>
            <a:srgbClr val="FCEC99"/>
          </a:solidFill>
          <a:ln w="7620">
            <a:solidFill>
              <a:srgbClr val="E2D27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406301" y="34588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Await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0406301" y="3949303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Espera la resolución de una promesa antes de continuar.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6280190" y="5136356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CEC99"/>
          </a:solidFill>
          <a:ln w="7620">
            <a:solidFill>
              <a:srgbClr val="E2D27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14624" y="53707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Try/Catch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514624" y="5861209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Bloque recomendado para manejar errores en funciones async.</a:t>
            </a:r>
            <a:endParaRPr lang="en-US" sz="1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5111" y="3324225"/>
            <a:ext cx="12860060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Fetch: consumiendo datos externos</a:t>
            </a:r>
            <a:endParaRPr lang="en-US" sz="6150" dirty="0"/>
          </a:p>
        </p:txBody>
      </p:sp>
      <p:sp>
        <p:nvSpPr>
          <p:cNvPr id="3" name="Shape 1"/>
          <p:cNvSpPr/>
          <p:nvPr/>
        </p:nvSpPr>
        <p:spPr>
          <a:xfrm>
            <a:off x="793790" y="4869451"/>
            <a:ext cx="13042821" cy="35957"/>
          </a:xfrm>
          <a:prstGeom prst="rect">
            <a:avLst/>
          </a:prstGeom>
          <a:solidFill>
            <a:srgbClr val="3C3939">
              <a:alpha val="50000"/>
            </a:srgbClr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7488" y="1655088"/>
            <a:ext cx="4919424" cy="49194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0068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Fetch: Consumiendo Datos Externos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571789"/>
            <a:ext cx="7556421" cy="35957"/>
          </a:xfrm>
          <a:prstGeom prst="rect">
            <a:avLst/>
          </a:prstGeom>
          <a:solidFill>
            <a:srgbClr val="3C3939">
              <a:alpha val="5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793790" y="386286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API nativa para hacer solicitudes HTTP a servidores web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4480917"/>
            <a:ext cx="3664863" cy="2047994"/>
          </a:xfrm>
          <a:prstGeom prst="roundRect">
            <a:avLst>
              <a:gd name="adj" fmla="val 4652"/>
            </a:avLst>
          </a:prstGeom>
          <a:solidFill>
            <a:srgbClr val="8DE2D6"/>
          </a:solidFill>
          <a:ln w="7620">
            <a:solidFill>
              <a:srgbClr val="73C8B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28224" y="47153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Ventajas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28224" y="5205770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Reemplaza XMLHttpRequest, utiliza promesas para manejar respuestas.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4685467" y="4480917"/>
            <a:ext cx="3664863" cy="2047994"/>
          </a:xfrm>
          <a:prstGeom prst="roundRect">
            <a:avLst>
              <a:gd name="adj" fmla="val 4652"/>
            </a:avLst>
          </a:prstGeom>
          <a:solidFill>
            <a:srgbClr val="8DE2D6"/>
          </a:solidFill>
          <a:ln w="7620">
            <a:solidFill>
              <a:srgbClr val="73C8B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19901" y="47153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Uso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919901" y="5205770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Función global fetch() devuelve una promesa con la respuesta HTTP.</a:t>
            </a:r>
            <a:endParaRPr lang="en-US" sz="1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417558"/>
          </a:xfrm>
          <a:prstGeom prst="rect">
            <a:avLst/>
          </a:prstGeom>
          <a:solidFill>
            <a:srgbClr val="FFED00"/>
          </a:solidFill>
          <a:ln/>
        </p:spPr>
      </p:sp>
      <p:sp>
        <p:nvSpPr>
          <p:cNvPr id="3" name="Text 1"/>
          <p:cNvSpPr/>
          <p:nvPr/>
        </p:nvSpPr>
        <p:spPr>
          <a:xfrm>
            <a:off x="793790" y="322790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Fetch vs Axios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790" y="4390225"/>
            <a:ext cx="13042821" cy="35957"/>
          </a:xfrm>
          <a:prstGeom prst="rect">
            <a:avLst/>
          </a:prstGeom>
          <a:solidFill>
            <a:srgbClr val="3C3939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498527" y="49081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Fetch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548925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Nativo, requiere configuración manual para algunas funcionalidades.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304258" y="49081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Axios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548925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Biblioteca externa con características integradas y manejo automático de errores.</a:t>
            </a:r>
            <a:endParaRPr lang="en-US" sz="1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3944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Conclusión y Próximos Pasos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110541"/>
            <a:ext cx="7556421" cy="35957"/>
          </a:xfrm>
          <a:prstGeom prst="rect">
            <a:avLst/>
          </a:prstGeom>
          <a:solidFill>
            <a:srgbClr val="3C3939">
              <a:alpha val="5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793790" y="3401616"/>
            <a:ext cx="3664863" cy="2039422"/>
          </a:xfrm>
          <a:prstGeom prst="roundRect">
            <a:avLst>
              <a:gd name="adj" fmla="val 4671"/>
            </a:avLst>
          </a:prstGeom>
          <a:solidFill>
            <a:srgbClr val="FCEC99"/>
          </a:solidFill>
          <a:ln w="7620">
            <a:solidFill>
              <a:srgbClr val="E2D27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208603" y="36360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Servidores Web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4126468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Comunicación web y funcionamiento de servidores.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467" y="3401616"/>
            <a:ext cx="3664863" cy="2039422"/>
          </a:xfrm>
          <a:prstGeom prst="roundRect">
            <a:avLst>
              <a:gd name="adj" fmla="val 4671"/>
            </a:avLst>
          </a:prstGeom>
          <a:solidFill>
            <a:srgbClr val="FCEC99"/>
          </a:solidFill>
          <a:ln w="7620">
            <a:solidFill>
              <a:srgbClr val="E2D27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19901" y="3636050"/>
            <a:ext cx="319599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Patrones de Arquitectura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919901" y="4480798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Cimientos de los proyectos de programación.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793790" y="5667851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CEC99"/>
          </a:solidFill>
          <a:ln w="7620">
            <a:solidFill>
              <a:srgbClr val="E2D27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888218" y="5902285"/>
            <a:ext cx="336756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Creando un Servidor Web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028224" y="6392704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Primeros pasos en la creación de servidores con Node JS.</a:t>
            </a:r>
            <a:endParaRPr lang="en-US" sz="1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7488" y="1655088"/>
            <a:ext cx="4919424" cy="49194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53840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Materiales y recursos adicionales 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409507"/>
            <a:ext cx="7556421" cy="35957"/>
          </a:xfrm>
          <a:prstGeom prst="rect">
            <a:avLst/>
          </a:prstGeom>
          <a:solidFill>
            <a:srgbClr val="3C3939">
              <a:alpha val="5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793790" y="370058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C99"/>
          </a:solidFill>
          <a:ln w="7620">
            <a:solidFill>
              <a:srgbClr val="E2D27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78860" y="3743087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1530906" y="3778448"/>
            <a:ext cx="64288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Event Loop en Node JS - </a:t>
            </a:r>
            <a:pPr algn="l" indent="0" marL="0">
              <a:lnSpc>
                <a:spcPts val="2750"/>
              </a:lnSpc>
              <a:buNone/>
            </a:pPr>
            <a:r>
              <a:rPr lang="en-US" sz="2200" u="sng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Documentación Oficial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793790" y="466451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C99"/>
          </a:solidFill>
          <a:ln w="7620">
            <a:solidFill>
              <a:srgbClr val="E2D27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8860" y="4707017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1530906" y="4742378"/>
            <a:ext cx="681930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Aprende más sobre la API Fetch y sus capacidades: </a:t>
            </a:r>
            <a:pPr algn="l" indent="0" marL="0">
              <a:lnSpc>
                <a:spcPts val="2750"/>
              </a:lnSpc>
              <a:buNone/>
            </a:pPr>
            <a:r>
              <a:rPr lang="en-US" sz="2200" u="sng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MDN Web Docs - Fetch API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793790" y="590466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C99"/>
          </a:solidFill>
          <a:ln w="7620">
            <a:solidFill>
              <a:srgbClr val="E2D27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8860" y="594717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650" dirty="0"/>
          </a:p>
        </p:txBody>
      </p:sp>
      <p:sp>
        <p:nvSpPr>
          <p:cNvPr id="13" name="Text 10"/>
          <p:cNvSpPr/>
          <p:nvPr/>
        </p:nvSpPr>
        <p:spPr>
          <a:xfrm>
            <a:off x="1530906" y="5982533"/>
            <a:ext cx="681930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Una alternativa a Fetch para solicitudes HTTP avanzadas: </a:t>
            </a:r>
            <a:pPr algn="l" indent="0" marL="0">
              <a:lnSpc>
                <a:spcPts val="2750"/>
              </a:lnSpc>
              <a:buNone/>
            </a:pPr>
            <a:r>
              <a:rPr lang="en-US" sz="2200" u="sng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Axios GitHub Repository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3011329"/>
            <a:ext cx="7825502" cy="985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⚙️</a:t>
            </a:r>
            <a:pPr algn="ctr"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Ejercicio Práctico</a:t>
            </a:r>
            <a:endParaRPr lang="en-US" sz="6150" dirty="0"/>
          </a:p>
        </p:txBody>
      </p:sp>
      <p:sp>
        <p:nvSpPr>
          <p:cNvPr id="3" name="Shape 1"/>
          <p:cNvSpPr/>
          <p:nvPr/>
        </p:nvSpPr>
        <p:spPr>
          <a:xfrm>
            <a:off x="793790" y="4564175"/>
            <a:ext cx="13042821" cy="35957"/>
          </a:xfrm>
          <a:prstGeom prst="rect">
            <a:avLst/>
          </a:prstGeom>
          <a:solidFill>
            <a:srgbClr val="3C3939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3790" y="485525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417558"/>
          </a:xfrm>
          <a:prstGeom prst="rect">
            <a:avLst/>
          </a:prstGeom>
          <a:solidFill>
            <a:srgbClr val="8DE2D6"/>
          </a:solidFill>
          <a:ln/>
        </p:spPr>
      </p:sp>
      <p:sp>
        <p:nvSpPr>
          <p:cNvPr id="3" name="Text 1"/>
          <p:cNvSpPr/>
          <p:nvPr/>
        </p:nvSpPr>
        <p:spPr>
          <a:xfrm>
            <a:off x="793790" y="2077283"/>
            <a:ext cx="5670590" cy="716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💭</a:t>
            </a:r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Storytelling</a:t>
            </a:r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💭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3790" y="313384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Matías y Sabrina están cada vez más interesados en tu progreso. “Es momento de adentrarte en el mundo real de las APIs”, dice Sabrina con una sonrisa desafiante.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4114800"/>
            <a:ext cx="13042821" cy="3454956"/>
          </a:xfrm>
          <a:prstGeom prst="roundRect">
            <a:avLst>
              <a:gd name="adj" fmla="val 2757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1410" y="4122420"/>
            <a:ext cx="13027581" cy="169818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343" y="4266128"/>
            <a:ext cx="1443276" cy="14107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932867" y="4266128"/>
            <a:ext cx="106693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“Queremos ver cómo manejás datos externos y cómo aprovechás las herramientas de JavaScript para hacerlo de manera eficiente”.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801410" y="5820608"/>
            <a:ext cx="13027581" cy="174152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343" y="5964317"/>
            <a:ext cx="1443276" cy="1454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932867" y="5964317"/>
            <a:ext cx="106693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Matías añade: “Piensa en este ejercicio como una simulación. En proyectos reales, consumirás APIs externas todo el tiempo. Este desafío evaluará tu habilidad para hacerlo de manera estructurada y profesional”.</a:t>
            </a:r>
            <a:endParaRPr lang="en-US" sz="1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417558"/>
          </a:xfrm>
          <a:prstGeom prst="rect">
            <a:avLst/>
          </a:prstGeom>
          <a:solidFill>
            <a:srgbClr val="8DE2D6"/>
          </a:solidFill>
          <a:ln/>
        </p:spPr>
      </p:sp>
      <p:sp>
        <p:nvSpPr>
          <p:cNvPr id="3" name="Text 1"/>
          <p:cNvSpPr/>
          <p:nvPr/>
        </p:nvSpPr>
        <p:spPr>
          <a:xfrm>
            <a:off x="793790" y="2567821"/>
            <a:ext cx="5670590" cy="716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⚙️</a:t>
            </a:r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C3939"/>
                </a:solidFill>
                <a:highlight>
                  <a:srgbClr val="FFFFFF"/>
                </a:highlight>
                <a:latin typeface="Raleway" pitchFamily="34" charset="0"/>
                <a:ea typeface="Raleway" pitchFamily="34" charset="-122"/>
                <a:cs typeface="Raleway" pitchFamily="34" charset="-120"/>
              </a:rPr>
              <a:t>Ejercicio Práctico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790" y="3652752"/>
            <a:ext cx="9643705" cy="35957"/>
          </a:xfrm>
          <a:prstGeom prst="rect">
            <a:avLst/>
          </a:prstGeom>
          <a:solidFill>
            <a:srgbClr val="3C3939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998518" y="2545080"/>
            <a:ext cx="284559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highlight>
                  <a:srgbClr val="FCEC99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No entregable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403050"/>
            <a:ext cx="53378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highlight>
                  <a:srgbClr val="FCEC99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Misión 1: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970026"/>
            <a:ext cx="53378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1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Utiliza la API pública de Rick and Morty (</a:t>
            </a:r>
            <a:pPr algn="l" indent="0" marL="0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204C8E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 para obtener la lista de personajes.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775127"/>
            <a:ext cx="533781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 las herramientas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F71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then, catch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F71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finally,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procesa la respuesta y devuelve por consola un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array con los primeros 5 resultados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los 20 personajes recibidos.</a:t>
            </a:r>
            <a:endParaRPr lang="en-US" sz="17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2622" y="4454128"/>
            <a:ext cx="1461730" cy="14726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739664" y="4403050"/>
            <a:ext cx="5112068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Impresionados por tu desempeño con promesas, Matías da un paso al frente. “El enfoque con promesas es sólido, pero en muchos casos queremos trabajar de manera más legible y fluida. Aquí es donde entra async/await. Veamos si podés replicar tu solución anterior usando esta técnica”.</a:t>
            </a:r>
            <a:endParaRPr lang="en-US" sz="1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417558"/>
          </a:xfrm>
          <a:prstGeom prst="rect">
            <a:avLst/>
          </a:prstGeom>
          <a:solidFill>
            <a:srgbClr val="8DE2D6"/>
          </a:solidFill>
          <a:ln/>
        </p:spPr>
      </p:sp>
      <p:sp>
        <p:nvSpPr>
          <p:cNvPr id="3" name="Text 1"/>
          <p:cNvSpPr/>
          <p:nvPr/>
        </p:nvSpPr>
        <p:spPr>
          <a:xfrm>
            <a:off x="793790" y="2828568"/>
            <a:ext cx="5670590" cy="716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⚙️</a:t>
            </a:r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C3939"/>
                </a:solidFill>
                <a:highlight>
                  <a:srgbClr val="FFFFFF"/>
                </a:highlight>
                <a:latin typeface="Raleway" pitchFamily="34" charset="0"/>
                <a:ea typeface="Raleway" pitchFamily="34" charset="-122"/>
                <a:cs typeface="Raleway" pitchFamily="34" charset="-120"/>
              </a:rPr>
              <a:t>Ejercicio Práctico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790" y="3913498"/>
            <a:ext cx="9643705" cy="35957"/>
          </a:xfrm>
          <a:prstGeom prst="rect">
            <a:avLst/>
          </a:prstGeom>
          <a:solidFill>
            <a:srgbClr val="3C3939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998518" y="2805827"/>
            <a:ext cx="284559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highlight>
                  <a:srgbClr val="FCEC99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No entregable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663797"/>
            <a:ext cx="64268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highlight>
                  <a:srgbClr val="FCEC99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Misión 2: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230773"/>
            <a:ext cx="64268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1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Realiza el mismo ejercicio anterior, pero esta vez usa una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función asíncrona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F71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async y await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para consumir la API.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6035873"/>
            <a:ext cx="64268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Asegúrate de manejar errores correctamente con un bloque try/catch.</a:t>
            </a:r>
            <a:endParaRPr lang="en-US" sz="17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1687" y="4714875"/>
            <a:ext cx="1562576" cy="157436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906238" y="4663797"/>
            <a:ext cx="3945493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Matías concluye: “Queremos ver un código limpio, fácil de entender y bien estructurado. Si podés manejar ambas técnicas, será una señal de que estás preparado para enfrentar tareas reales en TechLab”.</a:t>
            </a:r>
            <a:endParaRPr lang="en-US" sz="1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446" y="2983587"/>
            <a:ext cx="1978343" cy="197834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8437" y="2955250"/>
            <a:ext cx="849558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¡Nuevo cuestionario en Campus!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3928467" y="3919180"/>
            <a:ext cx="9915644" cy="1326713"/>
          </a:xfrm>
          <a:prstGeom prst="roundRect">
            <a:avLst>
              <a:gd name="adj" fmla="val 7181"/>
            </a:avLst>
          </a:prstGeom>
          <a:solidFill>
            <a:srgbClr val="B6D6FC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5281" y="4263271"/>
            <a:ext cx="283488" cy="22681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665583" y="4202668"/>
            <a:ext cx="895171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olvides que los cuestionarios son de carácter obligatorio para poder avanzar con la cursada.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2025-06-05T16:54:27Z</dcterms:created>
  <dcterms:modified xsi:type="dcterms:W3CDTF">2025-06-05T16:54:27Z</dcterms:modified>
</cp:coreProperties>
</file>