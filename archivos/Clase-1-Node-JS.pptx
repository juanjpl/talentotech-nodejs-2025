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9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://nodejs.org" TargetMode="Externa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nodejs.org/docs/latest/api/" TargetMode="External"/><Relationship Id="rId2" Type="http://schemas.openxmlformats.org/officeDocument/2006/relationships/hyperlink" Target="https://expressjs.com/" TargetMode="External"/><Relationship Id="rId3" Type="http://schemas.openxmlformats.org/officeDocument/2006/relationships/hyperlink" Target="https://firebase.google.com/docs/firestore?hl=es-419" TargetMode="External"/><Relationship Id="rId4" Type="http://schemas.openxmlformats.org/officeDocument/2006/relationships/hyperlink" Target="https://code.visualstudio.com/" TargetMode="External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nodejs.org" TargetMode="External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8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573" y="2165747"/>
            <a:ext cx="4486037" cy="13816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3887510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</a:t>
            </a:r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CC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.JS</a:t>
            </a:r>
            <a:endParaRPr lang="en-US" sz="6150" dirty="0"/>
          </a:p>
        </p:txBody>
      </p:sp>
      <p:sp>
        <p:nvSpPr>
          <p:cNvPr id="5" name="Shape 1"/>
          <p:cNvSpPr/>
          <p:nvPr/>
        </p:nvSpPr>
        <p:spPr>
          <a:xfrm>
            <a:off x="6280190" y="5319269"/>
            <a:ext cx="75564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6280190" y="5610344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1: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¡Bienvenidos/as!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900"/>
          </a:solidFill>
          <a:ln/>
        </p:spPr>
      </p:sp>
      <p:sp>
        <p:nvSpPr>
          <p:cNvPr id="3" name="Text 1"/>
          <p:cNvSpPr/>
          <p:nvPr/>
        </p:nvSpPr>
        <p:spPr>
          <a:xfrm>
            <a:off x="3311604" y="4064675"/>
            <a:ext cx="8007072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¡Les damos la bienvenida! </a:t>
            </a:r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5121235"/>
            <a:ext cx="13042821" cy="46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🎥</a:t>
            </a:r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a comenzar a grabar la clase.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3730"/>
            <a:ext cx="32535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369" y="2841784"/>
            <a:ext cx="1978343" cy="1978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314" y="2246471"/>
            <a:ext cx="9235797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¿Ya viste la “Introducción al programa" disponible en el campus virtual?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4608314" y="4627959"/>
            <a:ext cx="9235797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128" y="4972050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5430" y="4911447"/>
            <a:ext cx="82718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visualización y resolución de un breve cuestionario es de carácter obligatorio para desbloquear los contenidos de las primeras 2 clases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0181" y="3316605"/>
            <a:ext cx="9829919" cy="9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✨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Conozcamos al Staff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✨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707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1174"/>
            <a:ext cx="6011108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✨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 Académico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✨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04582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084" y="2395657"/>
            <a:ext cx="2807018" cy="28070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2428" y="54861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Sofia Tarabusi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604754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Rol: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54653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 del rol: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XXXXX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704552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Contacto: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XXXXX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179" y="2395657"/>
            <a:ext cx="2807018" cy="28070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45523" y="54861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Jean Paul Ferreira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7456884" y="604754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Rol: Docente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56884" y="654653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 del rol: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XXXXX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456884" y="704552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Contacto: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XXXXXX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0039" y="3316605"/>
            <a:ext cx="10190202" cy="9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📄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Metodología de cursada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707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2649"/>
            <a:ext cx="7458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Metodologia de Evaluación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68437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75951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Nuestro objetivo es prepararte para enfrentar los desafíos del siglo XXI y facilitar tu inserción en el mercado laboral. Para lograrlo, hemos desarrollado un programa que enfatiza la ejercitación constante y el seguimiento continuo. A continuación, te explicamos cómo serás evaluado a lo largo de la cursada: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90" y="410337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092184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Ejercicios Prácticos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278" y="4103370"/>
            <a:ext cx="762000" cy="76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09218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884" y="4103370"/>
            <a:ext cx="762000" cy="762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509218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Pre-Entrega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491" y="4103370"/>
            <a:ext cx="762000" cy="762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8491" y="5092184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571023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054328"/>
            <a:ext cx="28348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30906" y="599372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detallada de cada evaluación está disponible en el apartado “Introducción” dentro del Campus Virtual.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3" name="Text 1"/>
          <p:cNvSpPr/>
          <p:nvPr/>
        </p:nvSpPr>
        <p:spPr>
          <a:xfrm>
            <a:off x="2256830" y="1785223"/>
            <a:ext cx="766953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 Integrador Final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1242953" y="1780461"/>
            <a:ext cx="26011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Obligatorio | Entregable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2256830" y="3096968"/>
            <a:ext cx="1157978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56830" y="3473053"/>
            <a:ext cx="73521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C3C3B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¿Cómo se construye el proyecto integrador?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256830" y="4238506"/>
            <a:ext cx="1157978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final de la cursada, serás evaluado mediante la entrega de un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Integrador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es fundamental para completar el curso y cumplir con los requisitos de egreso. Este proyecto se construirá de manera progresiva, combinando la resolución de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Ejercicios Prácticos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la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Pre-Entrega de Proyecto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presentes a lo largo de la cursada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256830" y="5945267"/>
            <a:ext cx="115797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consignas a evaluar en este proyecto final integrador estará constituido por la resolución de los "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Ejercicios Prácticos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 presentes a lo largo de la cursada en función del proyecto integrador.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1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 Class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90915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58198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espacio "After Class" está diseñado para ofrecerte apoyo adicional y facilitar tu progreso durante la cursada. Aunque es opcional, te recomendamos que utilices este espacio para optimizar tu aprendizaje y el desarrollo de tu proyecto integrador.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258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Beneficios de asistir: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4390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y Asesoría: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Aprovecha este tiempo para resolver cualquier duda o consulta que tengas sobre el contenido de las clases, ejercicios prácticos, o cualquier aspecto relacionado con tu proyecto integrador. Podrás recibir orientación más personalizada de los/as instructores y obtener aclaraciones que te ayudarán a comprender mejor los conceptos y mejorar tu desempeño.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6250662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594753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653415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Frecuencia: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Una vez por semana en un día distinto y en la franja horaria de la cursada regular.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9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Enfoque inmersivo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64840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55591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este curso utilizaremos un enfoque inmersivo como herramienta fundamental para que puedan experimentar los roles mas solicitados en el mercado. Este curso va más allá de la enseñanza de programación; su objetivo es prepararlos para enfrentarse a problemas del mundo real en entornos laborales.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997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enfoque nos ayuda a: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517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8860" y="4560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530906" y="4595693"/>
            <a:ext cx="23110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Conectar con situaciones reales.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25397" y="4517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0467" y="4560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4862513" y="4595693"/>
            <a:ext cx="23110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Desarrollar pensamiento crítico.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57003" y="4517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2074" y="4560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194119" y="4595693"/>
            <a:ext cx="23110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Hacer el aprendizaje más significativo.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788610" y="4517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73680" y="456033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1525726" y="4595693"/>
            <a:ext cx="23110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Vivir la experiencia de un profesional.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3790" y="5913834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257925"/>
            <a:ext cx="283488" cy="22681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30906" y="619732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ejercicio en el curso será como un capítulo de una historia. Ustedes serán los protagonistas, y su misión será utilizar las herramientas brindadas en las clases para superar los retos que se les presenten.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38014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3140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del Curso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36303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405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440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Dominar Node.js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931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Aprenderemos los fundamentos y aplicaciones avanzadas de Node.js.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7003" y="336303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2074" y="340554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119" y="3440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Crear APIs RESTful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94119" y="3931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Diseñaremos y desarrollaremos interfaces para conectar aplicaciones web.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0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860" y="5153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188625"/>
            <a:ext cx="3285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Integrar Bases de Datos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5679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Trabajaremos con Firestore para almacenar y consultar datos eficientemente.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57003" y="5110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2074" y="5153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8194119" y="5188625"/>
            <a:ext cx="3243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Implementar Seguridad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94119" y="5679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Aplicaremos autenticación segura con JSON Web Tokens (JWT).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2459"/>
            <a:ext cx="5080040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Índice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0218" y="1765301"/>
            <a:ext cx="13049964" cy="32980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218" y="2026801"/>
            <a:ext cx="6524982" cy="8127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3338" y="3144322"/>
            <a:ext cx="3336131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Bienvenida y Herramientas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93338" y="358366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3338" y="397990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y tecnologías utilizadas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3338" y="437614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Instalación y configuración de Visual Studio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93338" y="4772382"/>
            <a:ext cx="61187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Introducción a Visual Studio Code como herramienta principal de desarrollo.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3338" y="5493782"/>
            <a:ext cx="61187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a paso para la instalación y configuración básica de Visual Studio Code.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93338" y="621518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Plugins recomendados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3338" y="661142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Instalación y configuración de Node Js y NPM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26801"/>
            <a:ext cx="6524982" cy="8127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8321" y="3144322"/>
            <a:ext cx="2878455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Node JS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518321" y="358366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Fundamentos: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518321" y="397990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 Node JS?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18321" y="437614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Características principales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18321" y="477238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Diferencias con Javascript en el browser: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18321" y="516862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JavaScript fuera del navegador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18321" y="556486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de Node Js: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18321" y="596110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Funcionamiento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18321" y="6357342"/>
            <a:ext cx="61187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single-threading y la diferencia con modelos multi-threading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518321" y="7078742"/>
            <a:ext cx="61187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Introducción Práctica: Probamos Node JS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8029" y="3324225"/>
            <a:ext cx="8074343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al curso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8892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6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 Js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98359"/>
            <a:ext cx="75564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08943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 entorno de código abierto (open source) multiplataforma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ejecuta el código JavaScript fuera de un navegador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Este entorno de ejecución de JavaScript se orienta a eventos asíncronos (los eventos no dependen de que otros se hayan ejecutado previamente) y permite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aplicaciones en red escalables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5909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 creado por los desarrolladores originales de JavaScript con la idea de poder ejecutar este lenguaje fuera del entorno del navegador.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40053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51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 Js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1744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40851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puedo hacer con Node.js?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1171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servidores web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los hace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ágiles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capaces de trabajar con otros lenguajes de secuencia como Python. Por esta razón, los desarrolladores lo utilizan sobre todo en aplicaciones de red que buscan ser rápidas o en proyectos de gran envergadura donde se necesita que los procesos sean ágiles.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610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Node.js podemos desarrollar: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51696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8860" y="52121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5247561"/>
            <a:ext cx="231100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Juegos en tiempo real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25397" y="51696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0467" y="52121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862513" y="5247561"/>
            <a:ext cx="23110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Salas de chat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57003" y="51696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2074" y="52121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8194119" y="5247561"/>
            <a:ext cx="231100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Aplicaciones de recolección de datos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788610" y="51696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73680" y="52121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1525726" y="5247561"/>
            <a:ext cx="23110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Streaming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3790" y="67641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8860" y="68066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1530906" y="6842046"/>
            <a:ext cx="75772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Aplicaciones de alto tráfico y concurrencia (ej. Twitter)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2618"/>
            <a:ext cx="9359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Tecnologías Principales a trabajar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54939"/>
            <a:ext cx="93852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346013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09" y="396406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820" y="4757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5248275"/>
            <a:ext cx="29394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Entorno de ejecución de JavaScript del lado del servidor.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12" y="396406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68723" y="4757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Express.js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016693" y="5248275"/>
            <a:ext cx="29394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web para crear soluciones de servidor con JavaScript.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815" y="396406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91626" y="4757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Firestore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239595" y="5248275"/>
            <a:ext cx="29394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 de gestión de datos en la nube para aplicaciones serverless.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34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 útiles para la cursada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54544"/>
            <a:ext cx="75564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130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Studio Code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251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potente y versátil para desarrollo web. Ofrece extensiones útiles y personalización.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891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Postman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5855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 para probar y documentar APIs de forma ágil y visual.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288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69831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de paquetes de Node.js para acceder a código de terceros.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460"/>
            <a:ext cx="7922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Conceptos Clave a Aprender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08248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2199323"/>
            <a:ext cx="1614011" cy="13069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94892" y="281535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88255" y="2426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RESTful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88255" y="2916555"/>
            <a:ext cx="78615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e implementación de interfaces de programación de aplicaciones.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918115" y="3519368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FCEC9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24" y="3562945"/>
            <a:ext cx="3228022" cy="13069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94892" y="401705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5895261" y="3789759"/>
            <a:ext cx="34607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Patrones de Arquitectura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895261" y="4280178"/>
            <a:ext cx="72004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Estructuras para desarrollar aplicaciones escalables y mantenibles.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5725120" y="4882991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FCEC9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418" y="4926568"/>
            <a:ext cx="4842034" cy="13069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94892" y="538067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6702266" y="5153382"/>
            <a:ext cx="3672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Autenticación y Seguridad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702266" y="5643801"/>
            <a:ext cx="61433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Protección de aplicaciones con JWT y mejores prácticas.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6532126" y="6246614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FCEC9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6290191"/>
            <a:ext cx="6456164" cy="13069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94773" y="674429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00" dirty="0"/>
          </a:p>
        </p:txBody>
      </p:sp>
      <p:sp>
        <p:nvSpPr>
          <p:cNvPr id="21" name="Text 15"/>
          <p:cNvSpPr/>
          <p:nvPr/>
        </p:nvSpPr>
        <p:spPr>
          <a:xfrm>
            <a:off x="7509272" y="6517005"/>
            <a:ext cx="29317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 Avanzado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09272" y="7007423"/>
            <a:ext cx="56423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Profundización en el uso del lenguaje en el backend.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1322" y="3324225"/>
            <a:ext cx="1062775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Instalación de herramientas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FFCF00"/>
          </a:solidFill>
          <a:ln/>
        </p:spPr>
      </p:sp>
      <p:sp>
        <p:nvSpPr>
          <p:cNvPr id="3" name="Text 1"/>
          <p:cNvSpPr/>
          <p:nvPr/>
        </p:nvSpPr>
        <p:spPr>
          <a:xfrm>
            <a:off x="2256830" y="949881"/>
            <a:ext cx="879288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Instalación de Visual Studio Code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256830" y="2054122"/>
            <a:ext cx="11579781" cy="34528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99241" y="2573417"/>
            <a:ext cx="30480" cy="4463891"/>
          </a:xfrm>
          <a:prstGeom prst="roundRect">
            <a:avLst>
              <a:gd name="adj" fmla="val 296930"/>
            </a:avLst>
          </a:prstGeom>
          <a:solidFill>
            <a:srgbClr val="BCDBD6"/>
          </a:solidFill>
          <a:ln/>
        </p:spPr>
      </p:sp>
      <p:sp>
        <p:nvSpPr>
          <p:cNvPr id="6" name="Shape 4"/>
          <p:cNvSpPr/>
          <p:nvPr/>
        </p:nvSpPr>
        <p:spPr>
          <a:xfrm>
            <a:off x="2711172" y="2800588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7" name="Shape 5"/>
          <p:cNvSpPr/>
          <p:nvPr/>
        </p:nvSpPr>
        <p:spPr>
          <a:xfrm>
            <a:off x="2256830" y="2573417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7673" y="2613839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76637" y="26474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Descargar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76637" y="3199448"/>
            <a:ext cx="6386155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1F7A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code.visualstudio.com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descarga la versión para tu sistema operativo.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711172" y="4547116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56830" y="4319945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7673" y="4360366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576637" y="439400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576637" y="4945975"/>
            <a:ext cx="6386155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Sigue las instrucciones en pantalla para completar la instalación.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711172" y="6293644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56830" y="6066473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7673" y="6106894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576637" y="614052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576637" y="6692503"/>
            <a:ext cx="638615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 el tema, fuentes y ajustes según tus preferencias.</a:t>
            </a:r>
            <a:endParaRPr lang="en-US" sz="16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653" y="3781187"/>
            <a:ext cx="2082998" cy="20482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FFF000"/>
          </a:solidFill>
          <a:ln/>
        </p:spPr>
      </p:sp>
      <p:sp>
        <p:nvSpPr>
          <p:cNvPr id="3" name="Text 1"/>
          <p:cNvSpPr/>
          <p:nvPr/>
        </p:nvSpPr>
        <p:spPr>
          <a:xfrm>
            <a:off x="2256830" y="1294686"/>
            <a:ext cx="767334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Instalación de Node.js y NPM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256830" y="2398927"/>
            <a:ext cx="11579781" cy="34528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99241" y="2918222"/>
            <a:ext cx="30480" cy="3774281"/>
          </a:xfrm>
          <a:prstGeom prst="roundRect">
            <a:avLst>
              <a:gd name="adj" fmla="val 296930"/>
            </a:avLst>
          </a:prstGeom>
          <a:solidFill>
            <a:srgbClr val="BCDBD6"/>
          </a:solidFill>
          <a:ln/>
        </p:spPr>
      </p:sp>
      <p:sp>
        <p:nvSpPr>
          <p:cNvPr id="6" name="Shape 4"/>
          <p:cNvSpPr/>
          <p:nvPr/>
        </p:nvSpPr>
        <p:spPr>
          <a:xfrm>
            <a:off x="2711172" y="3145393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7" name="Shape 5"/>
          <p:cNvSpPr/>
          <p:nvPr/>
        </p:nvSpPr>
        <p:spPr>
          <a:xfrm>
            <a:off x="2256830" y="2918222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7673" y="2958644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76637" y="299227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Descargar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76637" y="3544252"/>
            <a:ext cx="602301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 </a:t>
            </a:r>
            <a:pPr algn="l" indent="0" marL="0">
              <a:lnSpc>
                <a:spcPts val="2700"/>
              </a:lnSpc>
              <a:buNone/>
            </a:pPr>
            <a:r>
              <a:rPr lang="en-US" sz="1650" u="sng" dirty="0">
                <a:solidFill>
                  <a:srgbClr val="29A392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nodejs.org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descarga el instalador para tu sistema.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711172" y="4547116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56830" y="4319945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7673" y="4360366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576637" y="439400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576637" y="4945975"/>
            <a:ext cx="602301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 el instalador y sigue las instrucciones en pantalla.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711172" y="5948839"/>
            <a:ext cx="646390" cy="30480"/>
          </a:xfrm>
          <a:prstGeom prst="roundRect">
            <a:avLst>
              <a:gd name="adj" fmla="val 296930"/>
            </a:avLst>
          </a:prstGeom>
          <a:solidFill>
            <a:srgbClr val="E2D27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56830" y="5721668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7673" y="5762089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576637" y="579572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576637" y="6347698"/>
            <a:ext cx="602301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terminal, ejecuta 'node -v' y 'npm -v' para confirmar.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133052" y="3765709"/>
            <a:ext cx="371105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6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052" y="4352925"/>
            <a:ext cx="3711059" cy="14435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93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55660"/>
            <a:ext cx="75564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35341" y="2446734"/>
            <a:ext cx="30480" cy="4789527"/>
          </a:xfrm>
          <a:prstGeom prst="roundRect">
            <a:avLst>
              <a:gd name="adj" fmla="val 312558"/>
            </a:avLst>
          </a:prstGeom>
          <a:solidFill>
            <a:srgbClr val="BCDBD6"/>
          </a:solidFill>
          <a:ln/>
        </p:spPr>
      </p:sp>
      <p:sp>
        <p:nvSpPr>
          <p:cNvPr id="6" name="Shape 3"/>
          <p:cNvSpPr/>
          <p:nvPr/>
        </p:nvSpPr>
        <p:spPr>
          <a:xfrm>
            <a:off x="6760012" y="268664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D27F"/>
          </a:solidFill>
          <a:ln/>
        </p:spPr>
      </p:sp>
      <p:sp>
        <p:nvSpPr>
          <p:cNvPr id="7" name="Shape 4"/>
          <p:cNvSpPr/>
          <p:nvPr/>
        </p:nvSpPr>
        <p:spPr>
          <a:xfrm>
            <a:off x="6280190" y="24467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65260" y="248924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669411" y="2524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Preparar el Entorno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69411" y="3015020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Asegúrate de tener instalados Visual Studio Code, Node.js y NPM.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760012" y="443436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D27F"/>
          </a:solidFill>
          <a:ln/>
        </p:spPr>
      </p:sp>
      <p:sp>
        <p:nvSpPr>
          <p:cNvPr id="12" name="Shape 9"/>
          <p:cNvSpPr/>
          <p:nvPr/>
        </p:nvSpPr>
        <p:spPr>
          <a:xfrm>
            <a:off x="6280190" y="4194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4236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669411" y="4272320"/>
            <a:ext cx="3413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Explorar Documentación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9411" y="4762738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Familiarízate con la documentación oficial de Node.js y Express.js.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760012" y="618208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D27F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0190" y="59421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65260" y="598467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7669411" y="6020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Practicar JavaScript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69411" y="6510457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Repasa los conceptos fundamentales de JavaScript para el backend.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46716"/>
          </a:xfrm>
          <a:prstGeom prst="rect">
            <a:avLst/>
          </a:prstGeom>
          <a:solidFill>
            <a:srgbClr val="FFCF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039064"/>
            <a:ext cx="859857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Pasos y Reflexión Final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93790" y="3143305"/>
            <a:ext cx="13042821" cy="34528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20189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4633" y="346061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93996" y="3494246"/>
            <a:ext cx="305121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Node JS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93996" y="3960019"/>
            <a:ext cx="3467814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Aprenderemos sobre este entorno de desarrollo de Javascript, sus características principales y su funcionamiento.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31130" y="3420189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11973" y="346061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931337" y="349424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Funciones y Arrays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931337" y="3960019"/>
            <a:ext cx="3467814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Conoceremos más a fondo para que sirven las funciones, que formas existen para su declaración y el concepto de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pPr algn="l" indent="0" marL="0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funciones de orden superior”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Además, aprenderemos sobre los Arrays y los métodos disponibles para trabajar con ellos.Practicar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31337" y="6847642"/>
            <a:ext cx="34678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 pequeños scripts para familiarizarte con el entorno.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668470" y="3420189"/>
            <a:ext cx="484823" cy="484823"/>
          </a:xfrm>
          <a:prstGeom prst="roundRect">
            <a:avLst>
              <a:gd name="adj" fmla="val 18667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49314" y="3460611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0368677" y="349424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Clases y Objetos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368677" y="3960019"/>
            <a:ext cx="3467814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 y Objetos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Introducción a objetos en JavaScript. Aprenderemos qué son y las diferentes maneras de cómo crear objetos y trabajar con métodos y propiedades. 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75874"/>
          </a:xfrm>
          <a:prstGeom prst="rect">
            <a:avLst/>
          </a:prstGeom>
          <a:solidFill>
            <a:srgbClr val="FFCF0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567583"/>
            <a:ext cx="538686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Recursos Adicionales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93790" y="3613624"/>
            <a:ext cx="13042821" cy="33099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876199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287" y="3914418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57087" y="3946327"/>
            <a:ext cx="598991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Documentación oficial de Node.js: </a:t>
            </a:r>
            <a:pPr algn="l" indent="0" marL="0">
              <a:lnSpc>
                <a:spcPts val="2500"/>
              </a:lnSpc>
              <a:buNone/>
            </a:pPr>
            <a:r>
              <a:rPr lang="en-US" sz="2000" b="1" u="sng" dirty="0">
                <a:solidFill>
                  <a:srgbClr val="29A39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Node.js Docs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3790" y="4743688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0287" y="478190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57087" y="4813816"/>
            <a:ext cx="525815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Guía oficial de Express.js:</a:t>
            </a:r>
            <a:pPr algn="l" indent="0" marL="0">
              <a:lnSpc>
                <a:spcPts val="2500"/>
              </a:lnSpc>
              <a:buNone/>
            </a:pPr>
            <a:r>
              <a:rPr lang="en-US" sz="2000" b="1" u="sng" dirty="0">
                <a:solidFill>
                  <a:srgbClr val="29A39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Express.js Docs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3790" y="5611177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287" y="564939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57087" y="5681305"/>
            <a:ext cx="534709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Firestore:</a:t>
            </a:r>
            <a:pPr algn="l" indent="0" marL="0">
              <a:lnSpc>
                <a:spcPts val="2500"/>
              </a:lnSpc>
              <a:buNone/>
            </a:pPr>
            <a:r>
              <a:rPr lang="en-US" sz="2000" b="1" u="sng" dirty="0">
                <a:solidFill>
                  <a:srgbClr val="29A39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Firebase Firestore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3790" y="6478667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287" y="6516886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57087" y="6548795"/>
            <a:ext cx="684097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C3C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Descarga e instalación de Visual Studio Code:</a:t>
            </a:r>
            <a:pPr algn="l" indent="0" marL="0">
              <a:lnSpc>
                <a:spcPts val="2500"/>
              </a:lnSpc>
              <a:buNone/>
            </a:pPr>
            <a:r>
              <a:rPr lang="en-US" sz="2000" b="1" u="sng" dirty="0">
                <a:solidFill>
                  <a:srgbClr val="29A39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VS Code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3956" y="3316605"/>
            <a:ext cx="8482370" cy="9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Ejercicios Prácticos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7071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423279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C3C3B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0998518" y="240053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C3B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No entregable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2164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Instalación y Configuración de Node JS y NPM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303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Ambas tecnologías se instalan de forma conjunta mediante la descarga y ejecución del instalador de Node JS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061737"/>
            <a:ext cx="13042821" cy="35957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5437822"/>
            <a:ext cx="377011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C3C3B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Descarga e Instalación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3790" y="62032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Visitá el sitio oficial de Node Js: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F7A6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https://nodejs.org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6454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Descargá la versión correspondiente a tu sistema operativo (Windows, macOS, Linux).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70876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Seguí las instrucciones de instalación en pantalla.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46716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75761"/>
            <a:ext cx="5387102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C3C3B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7801" y="2254210"/>
            <a:ext cx="286631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C3C3B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No entregable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3522281"/>
            <a:ext cx="13042821" cy="34528"/>
          </a:xfrm>
          <a:prstGeom prst="rect">
            <a:avLst/>
          </a:prstGeom>
          <a:solidFill>
            <a:srgbClr val="3C3C3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879890"/>
            <a:ext cx="4649748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C3C3B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Verificación de la instalación: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3790" y="4682371"/>
            <a:ext cx="62585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la terminal e ingresar el comando: node -v el cual nos debería arrojar la versión de Node JS recientemente instalada.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710" y="4849416"/>
            <a:ext cx="4552117" cy="8079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6217563"/>
            <a:ext cx="62585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C3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Luego ingresamos el comando npm -v donde si todo se ha instalado correctamente, debería indicar la versión actual de NPM.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10" y="6384608"/>
            <a:ext cx="4525208" cy="888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2025-05-30T16:14:21Z</dcterms:created>
  <dcterms:modified xsi:type="dcterms:W3CDTF">2025-05-30T16:14:21Z</dcterms:modified>
</cp:coreProperties>
</file>